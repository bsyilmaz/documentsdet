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645920"/>
            <a:ext cx="85039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Effect of Activation Functions</a:t>
            </a:r>
            <a:br/>
            <a:r>
              <a:t>on Training Dynamics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291840"/>
            <a:ext cx="8503920" cy="54864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Calibri"/>
              </a:defRPr>
            </a:pPr>
            <a:r>
              <a:t>SWE012 — Deep Learning with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Selvinaz Sayın  ·  Ege Karaurgan  ·  Vedat Efe Gezer  ·  Mehmet Emin Akkaya  ·  Bayram Selim Yılmaz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9377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08095"/>
                </a:solidFill>
                <a:latin typeface="Calibri"/>
              </a:defRPr>
            </a:pPr>
            <a:r>
              <a:t>Istinye University — Department of Computer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&amp;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6576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7548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THE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How does the choice of activation function</a:t>
            </a:r>
            <a:br/>
            <a:r>
              <a:t>impact neural network training dynamics?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743200"/>
            <a:ext cx="4572000" cy="54864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F7"/>
                </a:solidFill>
                <a:latin typeface="Calibri"/>
              </a:defRPr>
            </a:pPr>
            <a:r>
              <a:t>KEY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7B2FF7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Sigmoid/Tanh saturate → gradient ≈ 0 → vanishing gradient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7B2FF7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ReLU: gradient = 1 (x&gt;0), but dead neuron risk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7B2FF7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Leaky ReLU: small slope for x&lt;0 → prevents dead neurons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120640" cy="47548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Controlled experiments:</a:t>
            </a:r>
            <a:br/>
            <a:r>
              <a:t>change one variable, hold all others constant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606040"/>
            <a:ext cx="4572000" cy="54864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Calibri"/>
              </a:defRPr>
            </a:pPr>
            <a:r>
              <a:t>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Sigmoid vs Tanh vs ReLU vs Leaky ReLU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Calibri"/>
              </a:defRPr>
            </a:pPr>
            <a:r>
              <a:t>BREADTH (all lecture topics)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8404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E696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Optimizers: SGD, Momentum, RMSProp, Adam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E696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Regularization: L1, L2, Dropout, BatchNorm, Label Smoothing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E696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Initialization: Xavier, He, Random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5120640"/>
            <a:ext cx="4572000" cy="64008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51663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Dataset: Fashion-MNIST · 60K train / 10K test · 10 classes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Exp 1: Activation Function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45720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808095"/>
                </a:solidFill>
                <a:latin typeface="Calibri"/>
              </a:defRPr>
            </a:pPr>
            <a:r>
              <a:t>Fixed: Adam (lr=0.001) · He init · No regularization · 15 epochs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1280160"/>
            <a:ext cx="2560320" cy="23774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5167" y="1371600"/>
            <a:ext cx="2377439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6607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6B"/>
                </a:solidFill>
                <a:latin typeface="Calibri"/>
              </a:defRPr>
            </a:pPr>
            <a:r>
              <a:t>Sigmoid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σ(x) = 1/(1+e⁻ˣ)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2194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▪ Slowest convergence</a:t>
            </a:r>
            <a:br/>
            <a:r>
              <a:t>▪ Lowest accuracy</a:t>
            </a:r>
            <a:br/>
            <a:r>
              <a:t>▪ Vanishing gradient</a:t>
            </a:r>
            <a:br/>
            <a:r>
              <a:t>▪ Non-zero-centered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8367" y="1280160"/>
            <a:ext cx="2560320" cy="23774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89807" y="1371600"/>
            <a:ext cx="2377439" cy="54864"/>
          </a:xfrm>
          <a:prstGeom prst="rect">
            <a:avLst/>
          </a:prstGeom>
          <a:solidFill>
            <a:srgbClr val="FF9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1247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22B"/>
                </a:solidFill>
                <a:latin typeface="Calibri"/>
              </a:defRPr>
            </a:pPr>
            <a:r>
              <a:t>Tanh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247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tanh(x)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247" y="2194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▪ Zero-centered [-1,1]</a:t>
            </a:r>
            <a:br/>
            <a:r>
              <a:t>▪ Better than Sigmoid</a:t>
            </a:r>
            <a:br/>
            <a:r>
              <a:t>▪ Still vanishes in</a:t>
            </a:r>
            <a:br/>
            <a:r>
              <a:t>  saturation regions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280160"/>
            <a:ext cx="2560320" cy="23774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4447" y="1371600"/>
            <a:ext cx="2377439" cy="54864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Calibri"/>
              </a:defRPr>
            </a:pPr>
            <a:r>
              <a:t>ReLU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max(0, 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2194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▪ Fast convergence</a:t>
            </a:r>
            <a:br/>
            <a:r>
              <a:t>▪ High accuracy</a:t>
            </a:r>
            <a:br/>
            <a:r>
              <a:t>▪ Gradient = 1 (x&gt;0)</a:t>
            </a:r>
            <a:br/>
            <a:r>
              <a:t>▪ Dead neuron risk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7647" y="1280160"/>
            <a:ext cx="2560320" cy="23774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9087" y="1371600"/>
            <a:ext cx="2377439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0527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Calibri"/>
              </a:defRPr>
            </a:pPr>
            <a:r>
              <a:t>Leaky ReLU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0527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max(0.01x, 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0527" y="2194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▪ Fast convergence</a:t>
            </a:r>
            <a:br/>
            <a:r>
              <a:t>▪ Highest accuracy</a:t>
            </a:r>
            <a:br/>
            <a:r>
              <a:t>▪ No dead neurons</a:t>
            </a:r>
            <a:br/>
            <a:r>
              <a:t>▪ Most stable gradient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023360"/>
            <a:ext cx="10698480" cy="219456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52628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FD93D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ReLU/Leaky ReLU converge significantly faster — gradient flows without saturation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D93D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Sigmoid is worst performer — gradient ≈ 0 in saturation regions kills learning in early layers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D93D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Leaky ReLU's small negative slope (0.01) eliminates dead neuron problem with no performance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 2 &amp; 3: Optimizer &amp; Regularization Interaction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54864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EXP 2: ACTIVATION × OPTIMIZER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737360"/>
            <a:ext cx="45720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Sigmoid + SGD = worst combo (vanishing grad + fixed lr)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Sigmoid + Adam = adaptive lr partially compensates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ReLU + any optimizer = strong gradient → all work well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Momentum is critical for weak-gradient activations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749039"/>
            <a:ext cx="4572000" cy="219456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8404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Calibri"/>
              </a:defRPr>
            </a:pPr>
            <a:r>
              <a:t>SGD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840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w -= lr × ∇J (basic)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605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22B"/>
                </a:solidFill>
                <a:latin typeface="Calibri"/>
              </a:defRPr>
            </a:pPr>
            <a:r>
              <a:t>Momentum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160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v = βv + ∇J (accumulates velocity)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805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Calibri"/>
              </a:defRPr>
            </a:pPr>
            <a:r>
              <a:t>RMSProp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per-param adaptive lr (fixes AdaGrad)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8006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Calibri"/>
              </a:defRPr>
            </a:pPr>
            <a:r>
              <a:t>Adam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800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Momentum + RMSProp + bias correction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280160"/>
            <a:ext cx="5120640" cy="49377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F7"/>
                </a:solidFill>
                <a:latin typeface="Calibri"/>
              </a:defRPr>
            </a:pPr>
            <a:r>
              <a:t>EXP 3: ACTIVATION × REGULARIZATION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737360"/>
            <a:ext cx="4572000" cy="54864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9202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7B2FF7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BatchNorm + Sigmoid = most dramatic improvement!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7B2FF7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Dropout closes generalization gap but slows training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7B2FF7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L2 shrinks weights (Gaussian prior)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7B2FF7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L1 zeros out weights → sparsity (Laplace prior)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7B2FF7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Label Smoothing prevents overconfident predictions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023360"/>
            <a:ext cx="4572000" cy="192024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1148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Calibri"/>
              </a:defRPr>
            </a:pPr>
            <a:r>
              <a:t>Biggest takeaway: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43484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BatchNorm normalizes each layer's input</a:t>
            </a:r>
            <a:br/>
            <a:r>
              <a:t>→ reduces internal covariate shift</a:t>
            </a:r>
            <a:br/>
            <a:r>
              <a:t>→ makes Sigmoid/Tanh actually competitive</a:t>
            </a:r>
            <a:br/>
            <a:r>
              <a:t>   with ReLU in some configurations!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 4: Initialization &amp; Gradient Flow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50292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Calibri"/>
              </a:defRPr>
            </a:pPr>
            <a:r>
              <a:t>INITIALIZATION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737360"/>
            <a:ext cx="4572000" cy="54864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22B"/>
                </a:solidFill>
                <a:latin typeface="Calibri"/>
              </a:defRPr>
            </a:pPr>
            <a:r>
              <a:t>Xavier (Glorot)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Var = 2/(nᵢₙ+nₒᵤₜ)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Sigmoid, Tanh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Calibri"/>
              </a:defRPr>
            </a:pPr>
            <a:r>
              <a:t>He (Kaiming)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Var = 2/nᵢₙ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ReLU, Leaky ReLU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Random (σ=0.5)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154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Uncontrolled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154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— (risky)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280160"/>
            <a:ext cx="5120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GRADIENT FLOW (5-layer network)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737360"/>
            <a:ext cx="45720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920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Sigmoid/Tanh: gradient norm drops
  exponentially toward input layers
  → early layers barely learn (VANISHING)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ReLU/LeakyReLU: gradient norm stays
  approximately constant across all layers
  → healthy learning throughout network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97680"/>
            <a:ext cx="10698480" cy="1828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DEAD NEURON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754880"/>
            <a:ext cx="100584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9377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ReLU: neurons with x &lt; 0 permanently</a:t>
            </a:r>
            <a:br/>
            <a:r>
              <a:t>output 0 → they "die" and never recover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377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E696"/>
                </a:solidFill>
                <a:latin typeface="Calibri"/>
              </a:defRPr>
            </a:pPr>
            <a:r>
              <a:t>Leaky ReLU: small slope (0.01) for x &lt; 0</a:t>
            </a:r>
            <a:br/>
            <a:r>
              <a:t>→ dead neuron ratio drops significantly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Conclusions &amp; Practical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50292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23774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Calibri"/>
              </a:defRPr>
            </a:pPr>
            <a:r>
              <a:t>KEY 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691640"/>
            <a:ext cx="1005840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D93D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ReLU/Leaky ReLU outperform Sigmoid/Tanh in almost every configuration — faster convergence, higher accuracy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D93D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Adam optimizer provides the most stable performance; momentum is critical for weak-gradient activations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D93D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BatchNorm is the single most impactful regularizer for saturating activations (Sigmoid/Tanh)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D93D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Correct init-activation pairing (Xavier↔Sigmoid, He↔ReLU) ensures healthy gradient flow from the 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207" y="3977639"/>
            <a:ext cx="3200400" cy="26060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2367" y="4069080"/>
            <a:ext cx="2926080" cy="54864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8087" y="4206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Calibri"/>
              </a:defRPr>
            </a:pPr>
            <a:r>
              <a:t>Default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087" y="4526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5"/>
                </a:solidFill>
                <a:latin typeface="Calibri"/>
              </a:defRPr>
            </a:pPr>
            <a:r>
              <a:t>Best starting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087" y="48463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ReLU + He init</a:t>
            </a:r>
            <a:br/>
            <a:r>
              <a:t>+ Adam + BatchNorm</a:t>
            </a:r>
            <a:br/>
            <a:br/>
            <a:r>
              <a:t>→ Safe, strong, and</a:t>
            </a:r>
            <a:br/>
            <a:r>
              <a:t>   reliable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5647" y="3977639"/>
            <a:ext cx="3200400" cy="26060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32807" y="4069080"/>
            <a:ext cx="292608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8527" y="4206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Calibri"/>
              </a:defRPr>
            </a:pPr>
            <a:r>
              <a:t>Dead Neurons?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8527" y="4526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5"/>
                </a:solidFill>
                <a:latin typeface="Calibri"/>
              </a:defRPr>
            </a:pPr>
            <a:r>
              <a:t>If neurons stop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8527" y="48463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Switch to Leaky ReLU</a:t>
            </a:r>
            <a:br/>
            <a:r>
              <a:t>or ELU</a:t>
            </a:r>
            <a:br/>
            <a:br/>
            <a:r>
              <a:t>→ Negative slope keeps</a:t>
            </a:r>
            <a:br/>
            <a:r>
              <a:t>   all neurons alive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6087" y="3977639"/>
            <a:ext cx="3200400" cy="26060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3247" y="4069080"/>
            <a:ext cx="2926080" cy="54864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8967" y="4206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B2FF7"/>
                </a:solidFill>
                <a:latin typeface="Calibri"/>
              </a:defRPr>
            </a:pPr>
            <a:r>
              <a:t>Overfitting?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8967" y="4526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5"/>
                </a:solidFill>
                <a:latin typeface="Calibri"/>
              </a:defRPr>
            </a:pPr>
            <a:r>
              <a:t>If train ≫ test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8967" y="48463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Add Dropout (p=0.5)</a:t>
            </a:r>
            <a:br/>
            <a:r>
              <a:t>+ L2 weight decay</a:t>
            </a:r>
            <a:br/>
            <a:br/>
            <a:r>
              <a:t>→ Closes the</a:t>
            </a:r>
            <a:br/>
            <a:r>
              <a:t>   generalization gap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Course Topics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6576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0867" y="1280160"/>
            <a:ext cx="2606040" cy="4114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307" y="1371600"/>
            <a:ext cx="242316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8027" y="1508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ML Fundamentals (Week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027" y="201168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00D2FF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i.i.d. assumption &amp; generalization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00D2FF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Bias-variance tradeoff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00D2FF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MLE ↔ loss function connection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00D2FF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SGD &amp; minibatch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5507" y="1280160"/>
            <a:ext cx="2606040" cy="4114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66947" y="1371600"/>
            <a:ext cx="2423160" cy="54864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2667" y="1508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Calibri"/>
              </a:defRPr>
            </a:pPr>
            <a:r>
              <a:t>Neural Networks (Weeks 3-4)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2667" y="201168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00E696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Feedforward architecture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00E696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Softmax + Cross-Entropy Loss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00E696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Backpropagation (chain rule)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00E696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Activation functions (MAIN TOPIC)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1280160"/>
            <a:ext cx="2606040" cy="4114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1587" y="1371600"/>
            <a:ext cx="2423160" cy="54864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7307" y="1508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B2FF7"/>
                </a:solidFill>
                <a:latin typeface="Calibri"/>
              </a:defRPr>
            </a:pPr>
            <a:r>
              <a:t>Regularization (Week 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201168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7B2FF7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L1 (Laplace prior → sparsity)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7B2FF7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L2 (Gaussian prior → shrinkage)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7B2FF7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Dropout (ensemble of 2ⁿ sub-networks)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7B2FF7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BatchNorm &amp; Label Smoothing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4787" y="1280160"/>
            <a:ext cx="2606040" cy="4114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36227" y="1371600"/>
            <a:ext cx="2423160" cy="54864"/>
          </a:xfrm>
          <a:prstGeom prst="rect">
            <a:avLst/>
          </a:prstGeom>
          <a:solidFill>
            <a:srgbClr val="FF9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1947" y="1508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22B"/>
                </a:solidFill>
                <a:latin typeface="Calibri"/>
              </a:defRPr>
            </a:pPr>
            <a:r>
              <a:t>Optimization (Week 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1947" y="201168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FF922B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Xavier &amp; He initialization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FF922B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SGD, Momentum, RMSProp, Adam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FF922B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Vanishing/exploding gradients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FF922B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Internal covariate shift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5669280"/>
            <a:ext cx="7589520" cy="82296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57607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Calibri"/>
              </a:defRPr>
            </a:pPr>
            <a:r>
              <a:t>Thank you!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